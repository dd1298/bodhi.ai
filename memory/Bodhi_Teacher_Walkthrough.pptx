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640080" cy="64008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onsolas"/>
              </a:rPr>
              <a:t>// PRODUCT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Bodhi.ai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QUESTION PAPER STUDIO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651760"/>
            <a:ext cx="393192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83464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Design exams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algorithmically.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A complete AI paper-generation and mock-test platform for teachers of ICSE / CBSE / ISC boards and JEE / NEET / CAT / UPSC coaching.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C300"/>
                </a:solidFill>
                <a:latin typeface="Consolas"/>
              </a:rPr>
              <a:t>PREPARED FOR THE TEACHING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51560"/>
            <a:ext cx="5943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INSIDE THIS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916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691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The problem with manual paper setting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2199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219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What Bodhi.ai does — feature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5234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75234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Teacher workflow — 8 steps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8269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8269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Board blueprints  ·  ICSE / CBSE / ISC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8130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8130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Competitive presets  ·  JEE / NEET / CAT / UPSC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34340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3434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Student side  ·  mock tests +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87375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8737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AI, OCR, RAG — how it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40410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FA7"/>
                </a:solidFill>
                <a:latin typeface="Consola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0410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What teachers get out of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Calibri"/>
              </a:rPr>
              <a:t>10-minute read  ·  live demo follows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WHY WE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Setting a good paper still costs a full weekend.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916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A8A8A"/>
                </a:solidFill>
                <a:latin typeface="Consolas"/>
              </a:rPr>
              <a:t>// THE OLD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9601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onsolas"/>
              </a:rPr>
              <a:t>~4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3969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Re-typing questions from previous year papers and reference guides.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9601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onsolas"/>
              </a:rPr>
              <a:t>~2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6148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Balancing sections, marks, difficulty and topic coverage by hand.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46704"/>
            <a:ext cx="9601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46704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onsolas"/>
              </a:rPr>
              <a:t>~1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8328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Typing formulas, equations and chemistry in a word processor.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68496"/>
            <a:ext cx="9601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68496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onsolas"/>
              </a:rPr>
              <a:t>~1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0050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Creating a matching answer key and marking scheme.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90288"/>
            <a:ext cx="9601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90288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onsola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62686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Zero data on which topics students actually get wrong.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691640"/>
            <a:ext cx="4937760" cy="42976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THE HIDDEN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3317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8+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429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onsolas"/>
              </a:rPr>
              <a:t>per paper, per teacher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977639"/>
            <a:ext cx="4389120" cy="0"/>
          </a:xfrm>
          <a:prstGeom prst="line">
            <a:avLst/>
          </a:prstGeom>
          <a:ln w="1270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41605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0F0F0"/>
                </a:solidFill>
                <a:latin typeface="Calibri"/>
              </a:rPr>
              <a:t>For a school with 30 subject teachers and 4 assessments a year, that is roughly 960 teaching hours lost every academic year — before a single answer script is marked.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One tool. Textbook in, exam-ready paper out.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2880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1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331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Upload any PDF — printed, scanned, or watermarked. OCR + AI extract the chapters and topics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577840"/>
            <a:ext cx="54864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7451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06040"/>
            <a:ext cx="2331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Choose topics, difficulty, sections and format mix. AI drafts an original, calibrated paper in under 2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5577840"/>
            <a:ext cx="54864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87451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06040"/>
            <a:ext cx="2331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Edit any question inline. Regenerate a single item. One-click answer key with step-wise solutions.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577840"/>
            <a:ext cx="54864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82880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82880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1874519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06040"/>
            <a:ext cx="2331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Assign as a timed mock test to students. Auto-grade MCQs. See topic-wise weakness heatmaps.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5577840"/>
            <a:ext cx="54864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TEACHER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The 8-step workflow, at a glance.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2880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Upload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Textbooks tab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1" y="281178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83280" y="182880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OCR +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Auto, ~30s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1" y="281178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17920" y="182880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14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Configure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Topics · marks · mix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06841" y="281178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052560" y="182880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82880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5146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Pick blueprint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ICSE / CBSE / ISC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9319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17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AI generates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Parallel LLM batches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37561" y="491490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383280" y="393192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393192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39319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617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Edit inline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303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Any question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72201" y="491490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217920" y="393192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93192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9319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617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Answer 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303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Step-by-step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006841" y="4914900.0"/>
            <a:ext cx="45718" cy="0.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052560" y="3931920"/>
            <a:ext cx="27889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3931920"/>
            <a:ext cx="822960" cy="5029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39319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C300"/>
                </a:solidFill>
                <a:latin typeface="Consolas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6177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Calibri"/>
              </a:rPr>
              <a:t>Download PDF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303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onsolas"/>
              </a:rPr>
              <a:t>Print-ready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8A8A"/>
                </a:solidFill>
                <a:latin typeface="Calibri"/>
              </a:rPr>
              <a:t>Every step in detail on the next pages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STEP 01 ·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STEP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Upload the textbook.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Drag any PDF onto the Textbooks page — scanned, printed, photocopied, watermarked. Bodhi.ai supports files up to 80 MB and auto-runs OCR on image-heavy PDFs (like SL Arora or CamScanner scans).</a:t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You can also tag a book as school-wide so every teacher in the department can generate off the same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WHAT YOU SEE ON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3F3F3"/>
                </a:solidFill>
                <a:latin typeface="Calibri"/>
              </a:rPr>
              <a:t>A tile appears in the Textbooks grid with a live status chip: ingesting → indexed → topics 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977639"/>
            <a:ext cx="5166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977639"/>
            <a:ext cx="137160" cy="2286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nsolas"/>
              </a:rPr>
              <a:t>//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You never re-type a single question. Your school's own reference material becomes the AI's context — so questions match what students were actually taught.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STEP 02 ·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STEP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Extract topics automatically.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Behind the scenes, the PDF is chunked, OCR-cleaned and fed into an LLM that produces a hierarchical topic tree — chapters → sections → subtopics.</a:t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For a Class-10 Physics textbook this typically gives you 12–20 top-level topics ready to pick from, without any manual tagging.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WHAT YOU SEE ON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3F3F3"/>
                </a:solidFill>
                <a:latin typeface="Calibri"/>
              </a:rPr>
              <a:t>Click 'Extract Topics'. In ~30 seconds a checkbox list of topics appears, each with an editable weight slider.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977639"/>
            <a:ext cx="5166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977639"/>
            <a:ext cx="137160" cy="2286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nsolas"/>
              </a:rPr>
              <a:t>//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You control exactly which topics appear on the paper and in what proportion — without ever writing a syllabus mapping by hand.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STEP 03 ·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STEP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Configure the paper.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Choose topics, difficulty (easy · medium · hard · mixed), duration, total marks, cognitive mix (information / concept / application) and question-format mix (MCQ · short-answer · long-answer · numerical · match-the-following · custom).</a:t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Or override everything with a section blueprint text-box that the AI follows verbatim.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WHAT YOU SEE ON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3F3F3"/>
                </a:solidFill>
                <a:latin typeface="Calibri"/>
              </a:rPr>
              <a:t>A structured form with sliders and pill-shaped format chips. Every change is reflected live in a running preview.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977639"/>
            <a:ext cx="5166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977639"/>
            <a:ext cx="137160" cy="2286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nsolas"/>
              </a:rPr>
              <a:t>//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Papers stay aligned with the pedagogy of the board or coaching program — no surprise question types show up on the day of the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STEP 05 ·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STEP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AI drafts the paper.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Bodhi.ai splits the workload across parallel LLM batches: 20-question chunks for board papers, larger batches for competitive exams. Each batch is routed to the best-suited model (GPT for numericals, Claude for reasoning, Gemini for biology diagrams).</a:t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If any batch times out or truncates, the response is salvaged automatically — you never see a 500 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WHAT YOU SEE ON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3F3F3"/>
                </a:solidFill>
                <a:latin typeface="Calibri"/>
              </a:rPr>
              <a:t>A live progress bar shows sections filling in as they are generated. Typical 80-mark board paper: ~90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977639"/>
            <a:ext cx="5166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977639"/>
            <a:ext cx="137160" cy="2286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nsolas"/>
              </a:rPr>
              <a:t>//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You go from a blank Google Doc to a printable exam faster than it takes to fill a coffee cup.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STEP 07 ·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STEP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Answer key with step-wise solutions.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From the Paper view, one click generates a full solution PDF — answers plus step-by-step working for every numerical, mechanism or derivation. Chemistry equations render with proper subscripts and arrows; math with LaTeX rendered at 600 DPI.</a:t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0A0A0A"/>
                </a:solidFill>
                <a:latin typeface="Calibri"/>
              </a:rPr>
              <a:t>Solutions can be bulk-regenerated if you edit a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166360" cy="21945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WHAT YOU SEE ON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3F3F3"/>
                </a:solidFill>
                <a:latin typeface="Calibri"/>
              </a:rPr>
              <a:t>A 'Generate Solutions' button. A minute later, a second PDF appears in Downloads titled '&lt;paper&gt; — Answer Key'.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977639"/>
            <a:ext cx="5166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3977639"/>
            <a:ext cx="137160" cy="2286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nsolas"/>
              </a:rPr>
              <a:t>// 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Calibri"/>
              </a:rPr>
              <a:t>Marking scripts becomes a matter of comparison, not recalculation. And peer teachers can grade any paper without needing your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BOARD BLUEPRINTS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Four one-click templates. Verified against 2026 specimens.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28800"/>
            <a:ext cx="274320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743200" cy="5943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Calibri"/>
              </a:rPr>
              <a:t>ICSE · Class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80 marks · 2 hrs</a:t>
            </a:r>
          </a:p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+ 15 min reading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520440"/>
            <a:ext cx="237744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611880"/>
            <a:ext cx="2468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A (40m) — 15 MCQs + fills + short-answer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B (40m) — Attempt any 4 of 6 · 10m each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Sub-parts (a) 3m + (b) 3m + (c) 4m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74320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27432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7451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Calibri"/>
              </a:rPr>
              <a:t>CBSE · Class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80 marks · 3 hrs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520440"/>
            <a:ext cx="237744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66160" y="3611880"/>
            <a:ext cx="2468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A — 16 MCQs · 1 mark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B–D — VSA · SA · LA (2/3/5 mark)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E — 3 case-study questions · 4m 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74320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743200" cy="5943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Calibri"/>
              </a:rPr>
              <a:t>ISC · Class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70 marks theory · 3 hrs</a:t>
            </a:r>
          </a:p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+ 15 min reading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520440"/>
            <a:ext cx="237744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611880"/>
            <a:ext cx="2468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A — 14 objective/MCQ · 1 mark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B — 10 short-answer · 2 marks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C — 7 short-answer · 3 marks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D — 3 long-answer · 5 marks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828800"/>
            <a:ext cx="274320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828800"/>
            <a:ext cx="274320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7451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Calibri"/>
              </a:rPr>
              <a:t>CBSE · Class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060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FA7"/>
                </a:solidFill>
                <a:latin typeface="Consolas"/>
              </a:rPr>
              <a:t>80 marks · 3 hrs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35440" y="3520440"/>
            <a:ext cx="237744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35440" y="3611880"/>
            <a:ext cx="2468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A — 20 MCQ + assertion-reason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B–D — VSA · SA · LA with internal choice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Sec E — 3 case-study · 4m each</a:t>
            </a:r>
          </a:p>
          <a:p>
            <a:pPr algn="l"/>
            <a:r>
              <a:rPr sz="1100" b="0" i="0">
                <a:solidFill>
                  <a:srgbClr val="0A0A0A"/>
                </a:solidFill>
                <a:latin typeface="Calibri"/>
              </a:rPr>
              <a:t>— ~50% competency-based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Calibri"/>
              </a:rPr>
              <a:t>Each preset auto-fills the section layout. Teachers can still tweak marks, difficulty and topics before generating.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COMPETITIVE PRESETS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Locked NTA / IIM / UPSC formats for coaching institutes.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37360"/>
            <a:ext cx="6035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28600" cy="8229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JEE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FA7"/>
                </a:solidFill>
                <a:latin typeface="Consolas"/>
              </a:rPr>
              <a:t>75 q · 180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PCM · 25 each · +4 / 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6035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2286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066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JEE 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90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FA7"/>
                </a:solidFill>
                <a:latin typeface="Consolas"/>
              </a:rPr>
              <a:t>54 q · 180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70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PCM · 18 each · single-paper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6035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9584"/>
            <a:ext cx="228600" cy="8229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027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NEET 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867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FA7"/>
                </a:solidFill>
                <a:latin typeface="Consolas"/>
              </a:rPr>
              <a:t>180 q · 200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6674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P·C·B (Botany + Zoology)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25696"/>
            <a:ext cx="6035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25696"/>
            <a:ext cx="228600" cy="8229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82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FA7"/>
                </a:solidFill>
                <a:latin typeface="Consolas"/>
              </a:rPr>
              <a:t>66 q · 120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56285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VARC · DILR · QA · 40m each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6035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21808"/>
            <a:ext cx="2286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UPSC Prelims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790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FA7"/>
                </a:solidFill>
                <a:latin typeface="Consolas"/>
              </a:rPr>
              <a:t>100 q · 120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45896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GS Paper I · -0.66 negative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737360"/>
            <a:ext cx="4846320" cy="44805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onsolas"/>
              </a:rPr>
              <a:t>// UNDER THE HOOD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2860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RAG-calibrated difficulty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86600" y="3246120"/>
            <a:ext cx="4343400" cy="0"/>
          </a:xfrm>
          <a:prstGeom prst="line">
            <a:avLst/>
          </a:prstGeom>
          <a:ln w="1270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86600" y="338328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For every competitive exam we ship a corpus of past-year questions tagged by topic and difficulty.</a:t>
            </a:r>
          </a:p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8E8E8"/>
                </a:solidFill>
                <a:latin typeface="Calibri"/>
              </a:rPr>
              <a:t>When you generate, Bodhi.ai retrieves the closest matches (TF-IDF similarity) and calibrates the LLM prompt so the output feels like a real NTA / IIM paper — not a generic textbook question.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STUDENT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Every paper you make can become a mock test.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37360"/>
            <a:ext cx="56692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66928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Mock Test · Chemistry ISC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828800"/>
            <a:ext cx="960120" cy="32004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8288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  <a:latin typeface="Consolas"/>
              </a:rPr>
              <a:t>58:24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Q07 · Section B · 2 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The coordination number of Na⁺ in NaCl is: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212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(A)  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5212080" cy="411480"/>
          </a:xfrm>
          <a:prstGeom prst="rect">
            <a:avLst/>
          </a:prstGeom>
          <a:solidFill>
            <a:srgbClr val="002FA7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(B)  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709160"/>
            <a:ext cx="5212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(C)  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212080"/>
            <a:ext cx="5212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(D)  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783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WHAT STUDENTS 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340864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94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Timed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5146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Real countdown with auto-submit on expiry.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999232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8529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Autosave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1729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Answers persist per question — no lost work if browser closes.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657600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51129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MCQ auto-grade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83133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Instant score + section-wise breakdown.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315968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16966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Topic heatmap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8970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See which topics the student is weakest 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974336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8280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Question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14807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Correct answer + explanation revealed after submit.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5632704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486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Calibri"/>
              </a:rPr>
              <a:t>Retake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06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Regenerate a fresh variant on the same topics.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Six moving parts. Zero teacher configuration.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28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Multi-model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OpenAI GPT-5.2 · Claude Sonnet 4.5 · Gemini 3.1 Pro. Bodhi.ai auto-picks the right model per exam type — with retry-and-fallback between providers.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OCR for scans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Tesseract + Poppler process image-heavy or watermarked PDFs (SL Arora, CamScanner scans, textbook photocopies). No manual cleanup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RAG difficulty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TF-IDF retrieval of past-year questions calibrates each prompt so JEE feels like JEE, not like a Class 10 worksheet.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Parallel batching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Long papers (100+ questions) run in parallel LLM batches to cut wall-clock time from 6 min → under 90 sec.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297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LaTeX + chem PNGs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800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Inline math and chemistry formulas rendered at 600 DPI. Prints razor-sharp on any classroom printer.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370332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114800"/>
            <a:ext cx="137160" cy="21488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297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Salvage +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Truncated LLM responses are salvaged automatically. Papers orphaned by a server restart resume on their 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FOR THE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A8A8A"/>
                </a:solidFill>
                <a:latin typeface="Consolas"/>
              </a:rPr>
              <a:t>CHAPTER 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A0A0A"/>
                </a:solidFill>
                <a:latin typeface="Calibri"/>
              </a:rPr>
              <a:t>What you get back — in numbers and in headspace.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83080"/>
            <a:ext cx="2788920" cy="1828800"/>
          </a:xfrm>
          <a:prstGeom prst="rect">
            <a:avLst/>
          </a:prstGeom>
          <a:solidFill>
            <a:srgbClr val="002FA7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8 hrs →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onsolas"/>
              </a:rPr>
              <a:t>per paper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2424" y="1783080"/>
            <a:ext cx="2788920" cy="1828800"/>
          </a:xfrm>
          <a:prstGeom prst="rect">
            <a:avLst/>
          </a:prstGeom>
          <a:solidFill>
            <a:srgbClr val="0A0A0A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96596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4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onsolas"/>
              </a:rPr>
              <a:t>ICSE · CBSE · ISC · IB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83080"/>
            <a:ext cx="2788920" cy="1828800"/>
          </a:xfrm>
          <a:prstGeom prst="rect">
            <a:avLst/>
          </a:prstGeom>
          <a:solidFill>
            <a:srgbClr val="FFC300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6596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A0A0A"/>
                </a:solidFill>
                <a:latin typeface="Calibri"/>
              </a:rPr>
              <a:t>5 exams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  <a:latin typeface="Consolas"/>
              </a:rPr>
              <a:t>JEE · NEET · CAT · UPSC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9992" y="1783080"/>
            <a:ext cx="2788920" cy="1828800"/>
          </a:xfrm>
          <a:prstGeom prst="rect">
            <a:avLst/>
          </a:prstGeom>
          <a:solidFill>
            <a:srgbClr val="10B981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96596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onsolas"/>
              </a:rPr>
              <a:t>original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111099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</a:rPr>
              <a:t>// WHY TEACHERS ADOPT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72000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34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Weekends 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54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The mechanical part of paper-setting is off your plate. You spend the time on lesson design and 1-on-1 doubt clearing.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38928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01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Consistency across a department.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218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Every teacher in the same subject can generate papers with identical marks distribution and difficulty.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705856"/>
            <a:ext cx="137160" cy="13716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6869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alibri"/>
              </a:rPr>
              <a:t>Data on where students struggle.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8873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Calibri"/>
              </a:rPr>
              <a:t>The topic heatmap turns each mock into actionable feedback for the next lesson.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onsolas"/>
              </a:rPr>
              <a:t>//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Let's build a paper together.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880360"/>
            <a:ext cx="10515600" cy="0"/>
          </a:xfrm>
          <a:prstGeom prst="line">
            <a:avLst/>
          </a:prstGeom>
          <a:ln w="19050"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063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8E8E8"/>
                </a:solidFill>
                <a:latin typeface="Calibri"/>
              </a:rPr>
              <a:t>Pick any chapter from a class textbook. In the next 10 minutes we will: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Upload the chapter as a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Watch topics get extracted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Configure a 40-mark paper with an ICSE Class-10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Generate, edit one question, and download the print-ready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Consolas"/>
              </a:rPr>
              <a:t>Ready when you are. 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Consolas"/>
              </a:rPr>
              <a:t>BODHI.AI — QUESTION PAPER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A8A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