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C300"/>
                </a:solidFill>
                <a:latin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Calibri"/>
              </a:rPr>
              <a:t>QPGEN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QUESTION PAPER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VOLUME 01 · PRODUCT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0A0A0A"/>
                </a:solidFill>
                <a:latin typeface="Calibri"/>
              </a:rPr>
              <a:t>Design exams</a:t>
            </a:r>
          </a:p>
          <a:p>
            <a:r>
              <a:rPr sz="7200" b="1">
                <a:solidFill>
                  <a:srgbClr val="002FA7"/>
                </a:solidFill>
                <a:latin typeface="Calibri"/>
              </a:rPr>
              <a:t>algorithmically.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834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25252"/>
                </a:solidFill>
                <a:latin typeface="Calibri"/>
              </a:rPr>
              <a:t>An AI-powered question paper generator for schools and colleges.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49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Calibri"/>
              </a:rPr>
              <a:t>Upload textbooks → extract topics → generate original papers, answer keys and diagrams.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286000"/>
            <a:ext cx="2514600" cy="32004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468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C300"/>
                </a:solidFill>
                <a:latin typeface="Consolas"/>
              </a:rPr>
              <a:t>//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743200"/>
            <a:ext cx="2286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0A0A0A"/>
                </a:solidFill>
                <a:latin typeface="Calibri"/>
              </a:rPr>
              <a:t>→  FastAPI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0A0A0A"/>
                </a:solidFill>
                <a:latin typeface="Calibri"/>
              </a:rPr>
              <a:t>→  React + Tailwind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0A0A0A"/>
                </a:solidFill>
                <a:latin typeface="Calibri"/>
              </a:rPr>
              <a:t>→  MongoDB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0A0A0A"/>
                </a:solidFill>
                <a:latin typeface="Calibri"/>
              </a:rPr>
              <a:t>→  OpenAI GPT-5.2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0A0A0A"/>
                </a:solidFill>
                <a:latin typeface="Calibri"/>
              </a:rPr>
              <a:t>→  Claude Sonnet 4.5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0A0A0A"/>
                </a:solidFill>
                <a:latin typeface="Calibri"/>
              </a:rPr>
              <a:t>→  Nano Banana (diagrams)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0A0A0A"/>
                </a:solidFill>
                <a:latin typeface="Calibri"/>
              </a:rPr>
              <a:t>→  Emergent Object 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WHY QPGEN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The problem we solve.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394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128016" cy="393192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STATUS QUO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Teachers spend 4-6 hours per paper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Question banks get repetitive year after year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Difficulty mix and topic coverage are guesswork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Answer keys are handwritten or missing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No system to learn teacher preferences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Diagrams drawn manually or skipped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377440"/>
            <a:ext cx="5394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377440"/>
            <a:ext cx="128016" cy="3931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WITH QPGEN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17520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Original paper in under 60 seconds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Topics auto-extracted from any textbook PDF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Exact control over difficulty &amp; type distribution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AI answer keys with step-by-step solutions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Every edit feeds a learning loop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Line-drawn diagrams auto-generated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Who uses QPGEN.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3703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28016" cy="40233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TEACHER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Uploads textbooks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Selects topics &amp; difficulty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Tunes question-type mix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Edits questions &amp; answers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Downloads printable PDFs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Saves favourites to bank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194560"/>
            <a:ext cx="3703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194560"/>
            <a:ext cx="128016" cy="40233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4231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83464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Manages subjects &amp; classes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Bulk-uploads textbooks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Uploads prior question papers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Sees all institution papers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Triggers bulk solution generation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Controls distribution standards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94560"/>
            <a:ext cx="3703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128016" cy="402336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4231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STUDENT (MVP-LITE)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83464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Selects topics to revise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Gets a timed practice paper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Views solution after attempt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Tracks weak topics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Offline PDF export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Roadmapped for next phase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How the engine 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011680" cy="3200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Calibri"/>
              </a:rPr>
              <a:t>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Calibri"/>
              </a:rPr>
              <a:t>Textbook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228600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80" y="2286000"/>
            <a:ext cx="2011680" cy="3200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331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Calibri"/>
              </a:rPr>
              <a:t>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2004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Calibri"/>
              </a:rPr>
              <a:t>Parse + chunk + 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28600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2286000"/>
            <a:ext cx="2011680" cy="3200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2331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Calibri"/>
              </a:rPr>
              <a:t>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2004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Calibri"/>
              </a:rPr>
              <a:t>Topics via 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60" y="228600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5160" y="2286000"/>
            <a:ext cx="2011680" cy="32004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2331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Calibri"/>
              </a:rPr>
              <a:t>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2004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Calibri"/>
              </a:rPr>
              <a:t>Paper + diagrams + answers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228600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2286000"/>
            <a:ext cx="201168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2331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Calibri"/>
              </a:rPr>
              <a:t>REFINE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2004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Calibri"/>
              </a:rPr>
              <a:t>Teacher edits feedback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38912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LLM ADAPTER — AUTOMATIC FAILOVER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892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C300"/>
                </a:solidFill>
                <a:latin typeface="Consolas"/>
              </a:rPr>
              <a:t>OpenAI GPT-5.2  →  Claude Sonnet 4.5  →  (future: open-source models)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Paper generation automatically falls back to the next provider on budget/rate/outage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SECTION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0" b="1">
                <a:solidFill>
                  <a:srgbClr val="0A0A0A"/>
                </a:solidFill>
                <a:latin typeface="Calibri"/>
              </a:rPr>
              <a:t>THE PAGES.</a:t>
            </a:r>
          </a:p>
          <a:p>
            <a:pPr>
              <a:spcBef>
                <a:spcPts val="1000"/>
              </a:spcBef>
            </a:pPr>
            <a:r>
              <a:rPr sz="2000">
                <a:solidFill>
                  <a:srgbClr val="002FA7"/>
                </a:solidFill>
                <a:latin typeface="Calibri"/>
              </a:rPr>
              <a:t>A walkthrough of every screen in the product.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01 ·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Login &amp; Register.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657600" cy="4114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C300"/>
                </a:solidFill>
                <a:latin typeface="Consolas"/>
              </a:rPr>
              <a:t>ROUTE  /login  ·  /register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25252"/>
                </a:solidFill>
                <a:latin typeface="Calibri"/>
              </a:rPr>
              <a:t>Email + password JWT auth with role selection. Protected routes route the user straight to the dashboard on success.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128016" cy="30175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React form calls POST /api/auth/register or /login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Backend hashes passwords with bcrypt, signs JWT (7-day)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Token cached in localStorage; axios injects Bearer header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Role field (teacher / admin) drives access on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00400"/>
            <a:ext cx="128016" cy="301752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UTILITY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Zero-friction onboarding — under 10 seconds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Role-based data isolation between teachers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Foundation for per-institution multi-tenancy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JWT means stateless API, horizontally scalable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02 ·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The control room.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657600" cy="4114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C300"/>
                </a:solidFill>
                <a:latin typeface="Consolas"/>
              </a:rPr>
              <a:t>ROUTE  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25252"/>
                </a:solidFill>
                <a:latin typeface="Calibri"/>
              </a:rPr>
              <a:t>Landing page after login. Shows institution-wide stats, recent papers, and quick actions.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128016" cy="30175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Parallel GET /papers, /textbooks, /qbank on load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Stats cards: textbooks indexed / papers / questions saved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Recent-papers list with one-click open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CTA: Generate New Paper + Bulk Generate Solutions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00400"/>
            <a:ext cx="128016" cy="301752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UTILITY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Teacher knows their status at a glance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Single button accelerates the core workflow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Bulk solution action saves hours on legacy papers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Empty states guide new users through onboarding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03 · TEXTBOOKS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Knowledge ingestion.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657600" cy="4114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C300"/>
                </a:solidFill>
                <a:latin typeface="Consolas"/>
              </a:rPr>
              <a:t>ROUTE  /textbooks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25252"/>
                </a:solidFill>
                <a:latin typeface="Calibri"/>
              </a:rPr>
              <a:t>Teachers and admins upload textbook PDFs. The system parses, chunks, stores and optionally extracts topics via LLM.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128016" cy="30175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Drag-drop PDF (up to 500 MB) with subject + class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Backend saves file in Emergent Object Storage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pypdf extracts text → chunked at ~2 500 chars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Extract Topics button runs LLM → topic tree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Status badges: indexed · topics_ready · failed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00400"/>
            <a:ext cx="128016" cy="301752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UTILITY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One upload becomes the scope + style guide forever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No manual topic tagging — LLM does it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Tree view lets teachers validate coverage visually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Re-indexing lets you adjust syllabus alignment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04 · NEW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Tune the generator.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657600" cy="4114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C300"/>
                </a:solidFill>
                <a:latin typeface="Consolas"/>
              </a:rPr>
              <a:t>ROUTE  /papers/new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25252"/>
                </a:solidFill>
                <a:latin typeface="Calibri"/>
              </a:rPr>
              <a:t>The density-heavy control-room form: metadata, difficulty, duration, marks, distribution sliders and topic multi-select.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128016" cy="30175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Textbook dropdown + paper metadata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Sliders for Information / Concept / Application %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Distribution validated to sum to 100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Topic chips: only select what you want covered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POST /papers/generate → JSON sections with type &amp; marks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00400"/>
            <a:ext cx="128016" cy="301752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UTILITY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Every lever a teacher cares about in one screen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Instant feedback on distribution totals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Feedback-loop context is sent invisibly to the LLM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Diagrams are auto-requested where relevant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05 · PAPER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The generated paper.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657600" cy="4114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C300"/>
                </a:solidFill>
                <a:latin typeface="Consolas"/>
              </a:rPr>
              <a:t>ROUTE  /papers/:id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25252"/>
                </a:solidFill>
                <a:latin typeface="Calibri"/>
              </a:rPr>
              <a:t>Exam-paper-like preview with per-question type badges, diagrams, edit and download.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128016" cy="30175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Sections render like a real exam paper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Badges: question type, difficulty, diagram presence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Per-question star (important) and bookmark actions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Edit Mode: inline text, marks, type, difficulty controls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Download PDF via fetch→blob with 3 s revoke delay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00400"/>
            <a:ext cx="128016" cy="301752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UTILITY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Looks printable — teachers see the final artefact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Edit once, AI learns the correction for next time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Saved questions feed the question bank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Diagram placeholder auto-loads when ready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06 · SOLUTION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The answer key.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657600" cy="4114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C300"/>
                </a:solidFill>
                <a:latin typeface="Consolas"/>
              </a:rPr>
              <a:t>ROUTE  /papers/:id/solution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25252"/>
                </a:solidFill>
                <a:latin typeface="Calibri"/>
              </a:rPr>
              <a:t>On-demand companion to the paper: concise for info, explanatory for concept, step-by-step for application questions.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128016" cy="30175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Generate Solution button calls /solution/generate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Answer-depth differs by question type automatically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Editable per-answer textarea with save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Stale banner appears when the paper changes later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Separate Download Solution PDF button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00400"/>
            <a:ext cx="128016" cy="301752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UTILITY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Teachers verify student answers quickly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Handwritten keys replaced with structured PDF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Teacher rewrites feed the solution feedback loop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Clear stale flag prevents confusion on edited papers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07 · QUESTION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The living repository.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657600" cy="4114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C300"/>
                </a:solidFill>
                <a:latin typeface="Consolas"/>
              </a:rPr>
              <a:t>ROUTE  /qbank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25252"/>
                </a:solidFill>
                <a:latin typeface="Calibri"/>
              </a:rPr>
              <a:t>Search, filter, save, or bulk-upload existing question papers — builds an ever-growing bank.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128016" cy="30175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Search by keyword · filter by type &amp; difficulty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Save-from-paper promotes a single question to bank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Upload Question Paper: parses any PDF → extracts qs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Both teachers and admins can upload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Each item tagged with source, subject, class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00400"/>
            <a:ext cx="128016" cy="301752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UTILITY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048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Institutional memory of every good question asked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Reusable across classes and years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Legacy papers become structured data instantly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Accelerates new paper generation (future RAG)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SECTION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0" b="1">
                <a:solidFill>
                  <a:srgbClr val="0A0A0A"/>
                </a:solidFill>
                <a:latin typeface="Calibri"/>
              </a:rPr>
              <a:t>THE MAGIC.</a:t>
            </a:r>
          </a:p>
          <a:p>
            <a:pPr>
              <a:spcBef>
                <a:spcPts val="1000"/>
              </a:spcBef>
            </a:pPr>
            <a:r>
              <a:rPr sz="2000">
                <a:solidFill>
                  <a:srgbClr val="002FA7"/>
                </a:solidFill>
                <a:latin typeface="Calibri"/>
              </a:rPr>
              <a:t>Under the hood features that set QPGEN apart.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FEATURE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Self-learning feedback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25252"/>
                </a:solidFill>
                <a:latin typeface="Calibri"/>
              </a:rPr>
              <a:t>Every teacher edit becomes permanent training data for their next paper.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11064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28016" cy="35661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91840"/>
            <a:ext cx="106070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PATCH /papers/:id logs each modified / added / deleted question to paper_edits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On the next POST /papers/generate, recent edits are summarised and injected as 'TEACHER PREFERENCES' in the LLM prompt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Same flow exists for solutions: solution_edits feeds future answer-key generation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Result: the system gets measurably better per teacher, per subject, over time — without any model fine-tuning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FEATURE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Auto-generated diagrams.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25252"/>
                </a:solidFill>
                <a:latin typeface="Calibri"/>
              </a:rPr>
              <a:t>Physics, Biology, Geography or Maths papers get clean line diagrams via Gemini Nano Banana.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11064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28016" cy="35661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91840"/>
            <a:ext cx="106070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LLM flags needs_diagram + diagram_description per question during generation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Backend fires up to 5 diagram jobs in parallel (background), saves PNGs to object storage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Frontend auto-polls every 4 s and swaps in images as they arrive — no refresh needed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Diagrams are embedded in both the question paper PDF and the solution PDF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FEATURE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Multi-provider LLM adapter.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25252"/>
                </a:solidFill>
                <a:latin typeface="Calibri"/>
              </a:rPr>
              <a:t>Never a single point of failure. Budget, rate, or outage on one provider automatically routes to the next.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11064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28016" cy="35661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91840"/>
            <a:ext cx="106070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Chain: OpenAI GPT-5.2 → Claude Sonnet 4.5 → (pluggable)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Unified chat_complete() and parse_json_response() tolerate code fences, prose and partial JSON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Adapter pattern makes adding new providers a one-line change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Cost observability via Emergent Universal Key 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FEATURE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Bulk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25252"/>
                </a:solidFill>
                <a:latin typeface="Calibri"/>
              </a:rPr>
              <a:t>One button, many papers. Designed for teachers with backlogs of legacy question papers.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11064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28016" cy="35661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//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91840"/>
            <a:ext cx="106070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POST /papers/solutions/bulk-generate?only_missing=true processes every paper without a solution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Returns succeeded / failed counts and full items so teachers can retry individually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Upload-question-paper workflow parses PDF → LLM extracts all questions → saves to qbank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Future: admin-level dashboard to bulk-regen stale solutions nightly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Who uses QPGEN.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3703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28016" cy="40233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TEACHER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Uploads textbooks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Selects topics &amp; difficulty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Tunes question-type mix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Edits questions &amp; answers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Downloads printable PDFs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Saves favourites to bank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194560"/>
            <a:ext cx="3703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194560"/>
            <a:ext cx="128016" cy="40233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4231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83464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Manages subjects &amp; classes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Bulk-uploads textbooks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Uploads prior question papers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Sees all institution papers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Triggers bulk solution generation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Controls distribution standards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94560"/>
            <a:ext cx="3703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128016" cy="402336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4231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STUDENT (MVP-LITE)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83464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Selects topics to revise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Gets a timed practice paper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Views solution after attempt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Tracks weak topics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Offline PDF export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Roadmapped for next phase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WHAT'S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Calibri"/>
              </a:rPr>
              <a:t>Roadmap.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3703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28016" cy="40233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P0 — HARDENING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Regenerate single question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Similarity check vs. textbook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Admin seed + role matrix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194560"/>
            <a:ext cx="3703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194560"/>
            <a:ext cx="128016" cy="40233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4231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P1 —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83464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School-wide shared library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Student practice mode (full)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Answer validation scoring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Email / WhatsApp paper sharing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94560"/>
            <a:ext cx="3703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12801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4231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00">
                <a:solidFill>
                  <a:srgbClr val="0A0A0A"/>
                </a:solidFill>
                <a:latin typeface="Consolas"/>
              </a:rPr>
              <a:t>P2 —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83464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Multi-tenant SaaS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AI evaluation of scripts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Difficulty auto-calibration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A0A0A"/>
                </a:solidFill>
                <a:latin typeface="Calibri"/>
              </a:rPr>
              <a:t>→  True vector DB + RAG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onsolas"/>
              </a:rPr>
              <a:t>QPGEN — AI Question Paper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25252"/>
                </a:solidFill>
                <a:latin typeface="Consolas"/>
              </a:rPr>
              <a:t>//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274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onsola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25252"/>
                </a:solidFill>
                <a:latin typeface="Consolas"/>
              </a:rPr>
              <a:t>// 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0" b="1">
                <a:solidFill>
                  <a:srgbClr val="0A0A0A"/>
                </a:solidFill>
                <a:latin typeface="Calibri"/>
              </a:rPr>
              <a:t>Papers,</a:t>
            </a:r>
          </a:p>
          <a:p>
            <a:r>
              <a:rPr sz="12000" b="1">
                <a:solidFill>
                  <a:srgbClr val="002FA7"/>
                </a:solidFill>
                <a:latin typeface="Calibri"/>
              </a:rPr>
              <a:t>in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25252"/>
                </a:solidFill>
                <a:latin typeface="Calibri"/>
              </a:rPr>
              <a:t>Questions? Feedback? Let's make exams smarter.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